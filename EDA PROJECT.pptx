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Montserrat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regular.fntdata"/><Relationship Id="rId25" Type="http://schemas.openxmlformats.org/officeDocument/2006/relationships/slide" Target="slides/slide20.xml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6.xml"/><Relationship Id="rId33" Type="http://schemas.openxmlformats.org/officeDocument/2006/relationships/font" Target="fonts/Lato-boldItalic.fntdata"/><Relationship Id="rId10" Type="http://schemas.openxmlformats.org/officeDocument/2006/relationships/slide" Target="slides/slide5.xml"/><Relationship Id="rId32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00a0a3692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00a0a3692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00a0a3692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00a0a3692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00a0a3692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00a0a3692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00a0a3692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00a0a3692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00a0a3692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d00a0a3692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00a0a3692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00a0a3692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00a0a3692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00a0a3692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00a0a3692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d00a0a3692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00a0a3692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d00a0a3692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00a0a3692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d00a0a3692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00a0a3692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d00a0a3692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00a0a3692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d00a0a3692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00a0a3692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d00a0a3692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00a0a3692_0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d00a0a3692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00a0a3692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d00a0a3692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00a0a3692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d00a0a3692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00a0a3692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d00a0a3692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00a0a3692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d00a0a3692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00a0a3692_0_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d00a0a3692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kaggle.com/datasets/blastchar/telco-customer-churn/data?select=WA_Fn-UseC_-Telco-Customer-Churn.csv" TargetMode="External"/><Relationship Id="rId4" Type="http://schemas.openxmlformats.org/officeDocument/2006/relationships/hyperlink" Target="https://colab.research.google.com/drive/1v6BitGFwMh-wq4TZWfttN6Pfp1DNuJ8m?usp=sharin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055875" y="315825"/>
            <a:ext cx="5017500" cy="14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rgbClr val="FFFF00"/>
                </a:solidFill>
              </a:rPr>
              <a:t>SUBSCRIPTION  CHURN ANALYSIS</a:t>
            </a:r>
            <a:endParaRPr b="1" sz="4100">
              <a:solidFill>
                <a:srgbClr val="FFFF00"/>
              </a:solidFill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702700" y="3068100"/>
            <a:ext cx="3441300" cy="20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/>
              <a:t>TEAM MEMBERS:</a:t>
            </a:r>
            <a:endParaRPr b="1"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900"/>
              <a:t>PUSHPESH KUMAR SAH</a:t>
            </a:r>
            <a:endParaRPr b="1" i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900"/>
              <a:t>GIRISH K</a:t>
            </a:r>
            <a:endParaRPr b="1" i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900"/>
              <a:t>AKSHAY RAJU ACHARI</a:t>
            </a:r>
            <a:endParaRPr b="1" i="1"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551150" y="210550"/>
            <a:ext cx="6041700" cy="22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900">
                <a:solidFill>
                  <a:srgbClr val="FF0000"/>
                </a:solidFill>
              </a:rPr>
              <a:t>Customer Churn?</a:t>
            </a:r>
            <a:endParaRPr b="1" sz="29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Arial"/>
                <a:ea typeface="Arial"/>
                <a:cs typeface="Arial"/>
                <a:sym typeface="Arial"/>
              </a:rPr>
              <a:t>Customer churn</a:t>
            </a:r>
            <a:r>
              <a:rPr lang="en-GB" sz="2000">
                <a:latin typeface="Arial"/>
                <a:ea typeface="Arial"/>
                <a:cs typeface="Arial"/>
                <a:sym typeface="Arial"/>
              </a:rPr>
              <a:t> refers to when customers stop using a company's product or services.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lang="en-GB" sz="2000">
                <a:latin typeface="Arial"/>
                <a:ea typeface="Arial"/>
                <a:cs typeface="Arial"/>
                <a:sym typeface="Arial"/>
              </a:rPr>
              <a:t>: Airtel , jio etc.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551150" y="2571750"/>
            <a:ext cx="7128600" cy="23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0"/>
              <a:t>Why it matters:</a:t>
            </a:r>
            <a:endParaRPr sz="36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GB" sz="8000"/>
              <a:t>Losing customers reduces company revenue</a:t>
            </a:r>
            <a:br>
              <a:rPr lang="en-GB" sz="8000"/>
            </a:br>
            <a:endParaRPr sz="4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GB" sz="8000"/>
              <a:t>Understanding churn helps companies improve customer retention</a:t>
            </a:r>
            <a:endParaRPr sz="8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19461"/>
            </a:br>
            <a:endParaRPr sz="9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46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193475"/>
            <a:ext cx="6798900" cy="47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/>
              <a:t>Dataset Source &amp; Overview:</a:t>
            </a:r>
            <a:endParaRPr b="1"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-363360" lvl="0" marL="457200" rtl="0" algn="l">
              <a:spcBef>
                <a:spcPts val="0"/>
              </a:spcBef>
              <a:spcAft>
                <a:spcPts val="0"/>
              </a:spcAft>
              <a:buSzPts val="2122"/>
              <a:buFont typeface="Arial"/>
              <a:buChar char="●"/>
            </a:pPr>
            <a:r>
              <a:rPr lang="en-GB" sz="2122">
                <a:latin typeface="Arial"/>
                <a:ea typeface="Arial"/>
                <a:cs typeface="Arial"/>
                <a:sym typeface="Arial"/>
              </a:rPr>
              <a:t>The dataset used for this analysis is the </a:t>
            </a:r>
            <a:r>
              <a:rPr b="1" lang="en-GB" sz="2122">
                <a:latin typeface="Arial"/>
                <a:ea typeface="Arial"/>
                <a:cs typeface="Arial"/>
                <a:sym typeface="Arial"/>
              </a:rPr>
              <a:t>Telco Customer Churn Dataset</a:t>
            </a:r>
            <a:r>
              <a:rPr lang="en-GB" sz="2122">
                <a:latin typeface="Arial"/>
                <a:ea typeface="Arial"/>
                <a:cs typeface="Arial"/>
                <a:sym typeface="Arial"/>
              </a:rPr>
              <a:t>.</a:t>
            </a:r>
            <a:endParaRPr sz="2122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22">
                <a:latin typeface="Arial"/>
                <a:ea typeface="Arial"/>
                <a:cs typeface="Arial"/>
                <a:sym typeface="Arial"/>
              </a:rPr>
              <a:t>Source:</a:t>
            </a:r>
            <a:r>
              <a:rPr b="1" lang="en-GB" sz="2422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022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https://www.kaggle.com/datasets/blastchar/telco-customer-churn/data?select=WA_Fn-UseC_-Telco-Customer-Churn.csv</a:t>
            </a:r>
            <a:endParaRPr sz="2022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22"/>
              <a:t>Code link</a:t>
            </a:r>
            <a:r>
              <a:rPr b="1" lang="en-GB" sz="2122"/>
              <a:t>: </a:t>
            </a:r>
            <a:r>
              <a:rPr b="1" lang="en-GB" sz="2022" u="sng">
                <a:solidFill>
                  <a:schemeClr val="hlink"/>
                </a:solidFill>
                <a:hlinkClick r:id="rId4"/>
              </a:rPr>
              <a:t>https://colab.research.google.com/drive/1v6BitGFwMh-wq4TZWfttN6Pfp1DNuJ8m?usp=sharing</a:t>
            </a:r>
            <a:endParaRPr b="1" sz="2022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83500" y="323700"/>
            <a:ext cx="7038900" cy="19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/>
              <a:t>Objective of the Analysis: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44"/>
              <a:t>The objective of this analysis is to explore customer data and identify patterns that influence customer churn.</a:t>
            </a:r>
            <a:endParaRPr sz="2044"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1283500" y="2507325"/>
            <a:ext cx="7038900" cy="24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GB" sz="2000">
                <a:latin typeface="Arial"/>
                <a:ea typeface="Arial"/>
                <a:cs typeface="Arial"/>
                <a:sym typeface="Arial"/>
              </a:rPr>
              <a:t>hat percentage of customers have churned?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What factors influence customer churn?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How do customer demographics affect churn behavior?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Does service type or contract type impact churn?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Do pricing factors such as monthly charges affect churn?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idx="1" type="body"/>
          </p:nvPr>
        </p:nvSpPr>
        <p:spPr>
          <a:xfrm>
            <a:off x="1297500" y="259000"/>
            <a:ext cx="6649800" cy="47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17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5750" y="184400"/>
            <a:ext cx="6890725" cy="474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8950" y="238125"/>
            <a:ext cx="6846100" cy="474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9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223250"/>
            <a:ext cx="6709450" cy="467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0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8850" y="208350"/>
            <a:ext cx="6554400" cy="468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1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8600" y="238125"/>
            <a:ext cx="6693700" cy="463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2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9100" y="238125"/>
            <a:ext cx="6797849" cy="466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9300" y="253000"/>
            <a:ext cx="6703250" cy="469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4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825" y="267900"/>
            <a:ext cx="6723475" cy="466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3025" y="193475"/>
            <a:ext cx="6604400" cy="479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6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8400" y="208350"/>
            <a:ext cx="6544851" cy="4717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7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3950" y="267900"/>
            <a:ext cx="6723475" cy="466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8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900" y="0"/>
            <a:ext cx="7664650" cy="5262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9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0400" y="223250"/>
            <a:ext cx="6786550" cy="470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0"/>
          <p:cNvSpPr txBox="1"/>
          <p:nvPr>
            <p:ph idx="1" type="body"/>
          </p:nvPr>
        </p:nvSpPr>
        <p:spPr>
          <a:xfrm>
            <a:off x="1052550" y="207750"/>
            <a:ext cx="7038900" cy="45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E3E3E3"/>
                </a:solidFill>
                <a:highlight>
                  <a:srgbClr val="282A2C"/>
                </a:highlight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lang="en-GB" sz="2000">
                <a:solidFill>
                  <a:srgbClr val="E3E3E3"/>
                </a:solidFill>
                <a:highlight>
                  <a:srgbClr val="282A2C"/>
                </a:highlight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lang="en-GB" sz="2500">
                <a:solidFill>
                  <a:srgbClr val="E3E3E3"/>
                </a:solidFill>
                <a:highlight>
                  <a:srgbClr val="282A2C"/>
                </a:highlight>
                <a:latin typeface="Arial"/>
                <a:ea typeface="Arial"/>
                <a:cs typeface="Arial"/>
                <a:sym typeface="Arial"/>
              </a:rPr>
              <a:t>CONCLUSION</a:t>
            </a:r>
            <a:endParaRPr b="1" sz="2500">
              <a:solidFill>
                <a:srgbClr val="E3E3E3"/>
              </a:solidFill>
              <a:highlight>
                <a:srgbClr val="282A2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Around 26% of customers have churned, showing a noticeable churn rate.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Customers with month-to-month contracts show the highest churn compared to long-term contracts.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Customers with shorter tenure are more likely to churn, meaning new customers leave more frequently.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Customers paying higher monthly charges tend to churn more than those with lower charges.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Certain payment methods such as electronic check show higher churn rates.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41300" lvl="0" marL="457200" rtl="0" algn="l"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200"/>
              <a:buFont typeface="Arial"/>
              <a:buChar char="●"/>
            </a:pPr>
            <a:r>
              <a:t/>
            </a:r>
            <a:endParaRPr b="1" sz="200">
              <a:solidFill>
                <a:srgbClr val="E3E3E3"/>
              </a:solidFill>
              <a:highlight>
                <a:srgbClr val="282A2C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1"/>
          <p:cNvSpPr txBox="1"/>
          <p:nvPr>
            <p:ph type="title"/>
          </p:nvPr>
        </p:nvSpPr>
        <p:spPr>
          <a:xfrm>
            <a:off x="1297500" y="3639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rgbClr val="00FF00"/>
                </a:solidFill>
              </a:rPr>
              <a:t>RECOMMENDATIONS</a:t>
            </a:r>
            <a:endParaRPr b="1" sz="2600">
              <a:solidFill>
                <a:srgbClr val="00FF00"/>
              </a:solidFill>
            </a:endParaRPr>
          </a:p>
        </p:txBody>
      </p:sp>
      <p:sp>
        <p:nvSpPr>
          <p:cNvPr id="229" name="Google Shape;229;p31"/>
          <p:cNvSpPr txBox="1"/>
          <p:nvPr>
            <p:ph idx="1" type="body"/>
          </p:nvPr>
        </p:nvSpPr>
        <p:spPr>
          <a:xfrm>
            <a:off x="1297500" y="1086450"/>
            <a:ext cx="7038900" cy="33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Encourage customers to choose long-term contracts by offering discounts.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Improve customer onboarding for new customers to reduce early churn.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Promote automatic payment methods to improve retention.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Review pricing strategies for high monthly charge plans.</a:t>
            </a: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4575" y="297650"/>
            <a:ext cx="6533549" cy="4539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